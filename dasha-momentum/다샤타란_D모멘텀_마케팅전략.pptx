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2926080"/>
            <a:ext cx="5669280" cy="5669280"/>
          </a:xfrm>
          <a:prstGeom prst="ellipse">
            <a:avLst/>
          </a:prstGeom>
          <a:solidFill>
            <a:srgbClr val="241D2B"/>
          </a:solidFill>
          <a:ln/>
        </p:spPr>
      </p:sp>
      <p:sp>
        <p:nvSpPr>
          <p:cNvPr id="4" name="Shape 2"/>
          <p:cNvSpPr/>
          <p:nvPr/>
        </p:nvSpPr>
        <p:spPr>
          <a:xfrm>
            <a:off x="9692640" y="4480560"/>
            <a:ext cx="2743200" cy="2743200"/>
          </a:xfrm>
          <a:prstGeom prst="ellipse">
            <a:avLst/>
          </a:prstGeom>
          <a:solidFill>
            <a:srgbClr val="B835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MARKETING STRATEGY · MONETIZATION · SALES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다샤 타란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42245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둥지, 새 챕터 — 포지셔닝 · 수익화 · 영업 통합 제안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 ·  2026.06  ·  내부 전략 미팅용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진단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쥐고 있는 패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20240"/>
            <a:ext cx="2606040" cy="82296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26771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2,200만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685800" y="299923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합산 도달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47288" y="19202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7288" y="1920240"/>
            <a:ext cx="2606040" cy="82296"/>
          </a:xfrm>
          <a:prstGeom prst="rect">
            <a:avLst/>
          </a:prstGeom>
          <a:solidFill>
            <a:srgbClr val="2A2630"/>
          </a:solidFill>
          <a:ln/>
        </p:spPr>
      </p:sp>
      <p:sp>
        <p:nvSpPr>
          <p:cNvPr id="13" name="Text 11"/>
          <p:cNvSpPr/>
          <p:nvPr/>
        </p:nvSpPr>
        <p:spPr>
          <a:xfrm>
            <a:off x="3493008" y="226771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13.9M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3493008" y="299923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TikTok · 최대 자산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4496" y="19202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1920240"/>
            <a:ext cx="2606040" cy="82296"/>
          </a:xfrm>
          <a:prstGeom prst="rect">
            <a:avLst/>
          </a:prstGeom>
          <a:solidFill>
            <a:srgbClr val="2A2630"/>
          </a:solidFill>
          <a:ln/>
        </p:spPr>
      </p:sp>
      <p:sp>
        <p:nvSpPr>
          <p:cNvPr id="17" name="Text 15"/>
          <p:cNvSpPr/>
          <p:nvPr/>
        </p:nvSpPr>
        <p:spPr>
          <a:xfrm>
            <a:off x="6300216" y="226771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6.2M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6300216" y="299923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Instagram (+서브 2.6M)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1704" y="19202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61704" y="1920240"/>
            <a:ext cx="2606040" cy="82296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2267712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$0.8–1.17M</a:t>
            </a:r>
            <a:endParaRPr lang="en-US" sz="2900" dirty="0"/>
          </a:p>
        </p:txBody>
      </p:sp>
      <p:sp>
        <p:nvSpPr>
          <p:cNvPr id="22" name="Text 20"/>
          <p:cNvSpPr/>
          <p:nvPr/>
        </p:nvSpPr>
        <p:spPr>
          <a:xfrm>
            <a:off x="9107424" y="299923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연수익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4114800"/>
            <a:ext cx="10908792" cy="1783080"/>
          </a:xfrm>
          <a:prstGeom prst="roundRect">
            <a:avLst>
              <a:gd name="adj" fmla="val 5128"/>
            </a:avLst>
          </a:prstGeom>
          <a:solidFill>
            <a:srgbClr val="17131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4370832"/>
            <a:ext cx="10177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상황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전속계약 효력정지 가처분 인용 — 본안 전까지 자유 활동 가능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" y="4892040"/>
            <a:ext cx="10177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7년간 정산서 미제공이 핵심 사유   · 前 대표 상대 횡령·배임 고소 진행 중   · 약 9천만원 미정산 주장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5349240"/>
            <a:ext cx="10177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사건은 "수동적 인형 → 주체적 인물" 전환의 명분이 된다 (단, 소송 자체의 마케팅 소재화는 금지)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인사이트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자산이 어디에 있는가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17131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2128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874520" y="1947672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팬덤은 글로벌이다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74520" y="2423160"/>
            <a:ext cx="9784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TikTok·IG 모두 러시아/CIS·중동·동남아·남미 중심. 한국인 팬이 아님. '국내 연예인'으로 다루면 자산의 90%를 버린다.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914400" cy="914400"/>
          </a:xfrm>
          <a:prstGeom prst="ellipse">
            <a:avLst/>
          </a:prstGeom>
          <a:solidFill>
            <a:srgbClr val="17131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874520" y="3319272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엔진은 TikTok이다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74520" y="3794760"/>
            <a:ext cx="9784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13.9M 단일 최대 채널. 신규 유입의 본진. 다른 채널을 여기에 종속시켜 설계해야 한다.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914400" cy="914400"/>
          </a:xfrm>
          <a:prstGeom prst="ellipse">
            <a:avLst/>
          </a:prstGeom>
          <a:solidFill>
            <a:srgbClr val="E84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9560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874520" y="4690872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약점은 '서사 부재'다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874520" y="5166360"/>
            <a:ext cx="9784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의존형은 교체 가능하고 수익이 협찬에만 묶인다. 인격·서사·사업이 없으면 가치가 우상향하지 못한다.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241D2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E2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914400" y="2788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STRATEGY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246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포지셔닝 · 시장 · 채널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343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누구로 다시 세우고, 어디서, 어떻게 도달할 것인가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포지셔닝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누구로 다시 세울 것인가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212080" cy="2331720"/>
          </a:xfrm>
          <a:prstGeom prst="roundRect">
            <a:avLst>
              <a:gd name="adj" fmla="val 3922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5877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수동적 비주얼 모델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30449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박제된 '인형' 이미지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35021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수익 = 협찬 단가에 종속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61888" y="2834640"/>
            <a:ext cx="603504" cy="457200"/>
          </a:xfrm>
          <a:prstGeom prst="rightArrow">
            <a:avLst/>
          </a:prstGeom>
          <a:solidFill>
            <a:srgbClr val="E84B7C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0" y="1874520"/>
            <a:ext cx="5212080" cy="2331720"/>
          </a:xfrm>
          <a:prstGeom prst="roundRect">
            <a:avLst>
              <a:gd name="adj" fmla="val 3922"/>
            </a:avLst>
          </a:prstGeom>
          <a:solidFill>
            <a:srgbClr val="17131C"/>
          </a:solidFill>
          <a:ln/>
        </p:spPr>
      </p:sp>
      <p:sp>
        <p:nvSpPr>
          <p:cNvPr id="14" name="Text 12"/>
          <p:cNvSpPr/>
          <p:nvPr/>
        </p:nvSpPr>
        <p:spPr>
          <a:xfrm>
            <a:off x="699516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95160" y="25877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자기 브랜드를 운영하는 파운더-크리에이터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95160" y="30449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'7년 만에 독립한' 주체적 서사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995160" y="35021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오너 브랜드 · IP로 수익 다각화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C8A2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773168"/>
            <a:ext cx="10177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베팅   </a:t>
            </a:r>
            <a:pPr indent="0" marL="0">
              <a:buNone/>
            </a:pPr>
            <a:r>
              <a:rPr lang="en-US" sz="18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"Reinvention(재탄생)" 내러티브를 마케팅 축으로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05840" y="5285232"/>
            <a:ext cx="10177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독립이 '인형 → 주체' 전환에 완벽한 명분을 준다. 톤: 새 시작 · 진짜 나 · 직접 만든다 (소송 직접 언급 X)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전략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우선, 한국은 베이스캠프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17131C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1488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· 본진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26517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도달 · 규모 · 수익의 메인 무대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1546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영어 기반 글로벌 콘텐츠가 1순위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59359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글로벌 협찬 · 커머스 전환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403250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팔로워 2,200만의 실제 거주지를 공략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187452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21488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KOREA · 베이스캠프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040880" y="26517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허브이자 차별화 스토리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40880" y="31546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'한국 사는 글로벌 셀럽' 포지션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59359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K-뷰티/패션의 글로벌 앰배서더 수요 흡수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0" y="403250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국내 단독활동 = 수익 아닌 '화제성·소재'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93776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한국을 무대로 쓰되 청중은 전 세계. 국내 단독 시장만 노리면 ROI가 무너진다.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전략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역할 분담 — 퍼널로 나눠라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3566160" cy="37033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74520"/>
            <a:ext cx="3566160" cy="841248"/>
          </a:xfrm>
          <a:prstGeom prst="roundRect">
            <a:avLst>
              <a:gd name="adj" fmla="val 10870"/>
            </a:avLst>
          </a:prstGeom>
          <a:solidFill>
            <a:srgbClr val="E84B7C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350008"/>
            <a:ext cx="3566160" cy="365760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965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TikTok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14400" y="238658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도달 · 엔진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89864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유입 · 바이럴 (주력)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35204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짧은 비주얼/트렌드/GRWM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39776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하루 1–2개 고빈도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434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K-루틴을 글로벌 톤으로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505663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· 조회 · 신규팔로워 · 세이브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89704" y="1874520"/>
            <a:ext cx="3566160" cy="37033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89704" y="1874520"/>
            <a:ext cx="3566160" cy="841248"/>
          </a:xfrm>
          <a:prstGeom prst="roundRect">
            <a:avLst>
              <a:gd name="adj" fmla="val 10870"/>
            </a:avLst>
          </a:prstGeom>
          <a:solidFill>
            <a:srgbClr val="C8A24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89704" y="2350008"/>
            <a:ext cx="3566160" cy="365760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20" name="Text 18"/>
          <p:cNvSpPr/>
          <p:nvPr/>
        </p:nvSpPr>
        <p:spPr>
          <a:xfrm>
            <a:off x="4764024" y="1965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Instagram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4764024" y="238658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커머스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64024" y="289864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단가 근거 · 포트폴리오 · 전환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64024" y="35204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고퀄 화보로 프리미엄 유지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64024" y="39776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Reels로 도달 보완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64024" y="4434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쇼핑태그 커머스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64024" y="505663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· 인게이지(현 8%대) · 저장 · 문의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339328" y="1874520"/>
            <a:ext cx="3566160" cy="37033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39328" y="1874520"/>
            <a:ext cx="3566160" cy="841248"/>
          </a:xfrm>
          <a:prstGeom prst="roundRect">
            <a:avLst>
              <a:gd name="adj" fmla="val 10870"/>
            </a:avLst>
          </a:prstGeom>
          <a:solidFill>
            <a:srgbClr val="7B5BD6"/>
          </a:solidFill>
          <a:ln/>
        </p:spPr>
      </p:sp>
      <p:sp>
        <p:nvSpPr>
          <p:cNvPr id="29" name="Shape 27"/>
          <p:cNvSpPr/>
          <p:nvPr/>
        </p:nvSpPr>
        <p:spPr>
          <a:xfrm>
            <a:off x="8339328" y="2350008"/>
            <a:ext cx="3566160" cy="365760"/>
          </a:xfrm>
          <a:prstGeom prst="rect">
            <a:avLst/>
          </a:prstGeom>
          <a:solidFill>
            <a:srgbClr val="7B5BD6"/>
          </a:solidFill>
          <a:ln/>
        </p:spPr>
      </p:sp>
      <p:sp>
        <p:nvSpPr>
          <p:cNvPr id="30" name="Text 28"/>
          <p:cNvSpPr/>
          <p:nvPr/>
        </p:nvSpPr>
        <p:spPr>
          <a:xfrm>
            <a:off x="8613648" y="1965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YouTube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8613648" y="238658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인격 · 해자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13648" y="289864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사람으로 만들고 돈으로 바꾼다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13648" y="35204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브이로그 · 한국 정착기 · Q&amp;A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13648" y="39776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'인형'에 서사 부여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613648" y="4434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광고 · 장편PPL · 브랜드 런칭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613648" y="505663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5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· 시청시간 · 구독전환 · 충성도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5806440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틱톡으로 끌어와(도달) → 인스타로 신뢰·구매 자산화 → 유튜브로 사람으로 만들고 돈으로 바꾼다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241D2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E2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914400" y="2788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MONETIZATION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246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수익화 구조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343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협찬을 받을 것인가, 그리고 무엇으로 돈을 벌 것인가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모델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수익원 — 협찬 의존에서 포트폴리오로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532120" cy="1170432"/>
          </a:xfrm>
          <a:prstGeom prst="roundRect">
            <a:avLst>
              <a:gd name="adj" fmla="val 6250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91440" cy="1170432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1975104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협찬·광고 (Sponsored)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32688" y="2414016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단발 포스팅·캠페인. 핵심 현금 엔진.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846320" y="20116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現 핵심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1828800"/>
            <a:ext cx="5532120" cy="1170432"/>
          </a:xfrm>
          <a:prstGeom prst="roundRect">
            <a:avLst>
              <a:gd name="adj" fmla="val 6250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1828800"/>
            <a:ext cx="91440" cy="1170432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14" name="Text 12"/>
          <p:cNvSpPr/>
          <p:nvPr/>
        </p:nvSpPr>
        <p:spPr>
          <a:xfrm>
            <a:off x="6784848" y="1975104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전속 앰배서더 (Ambassador)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784848" y="2414016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분기/연간 장기계약. 고단가·안정적.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698480" y="20116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성장축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227832"/>
            <a:ext cx="5532120" cy="1170432"/>
          </a:xfrm>
          <a:prstGeom prst="roundRect">
            <a:avLst>
              <a:gd name="adj" fmla="val 6250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227832"/>
            <a:ext cx="91440" cy="1170432"/>
          </a:xfrm>
          <a:prstGeom prst="rect">
            <a:avLst/>
          </a:prstGeom>
          <a:solidFill>
            <a:srgbClr val="7B5BD6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3374136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커머스·어필리에이트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32688" y="381304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쇼핑태그·공동구매·판매 커미션.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46320" y="341071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5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92240" y="3227832"/>
            <a:ext cx="5532120" cy="1170432"/>
          </a:xfrm>
          <a:prstGeom prst="roundRect">
            <a:avLst>
              <a:gd name="adj" fmla="val 6250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3227832"/>
            <a:ext cx="91440" cy="1170432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24" name="Text 22"/>
          <p:cNvSpPr/>
          <p:nvPr/>
        </p:nvSpPr>
        <p:spPr>
          <a:xfrm>
            <a:off x="6784848" y="3374136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오너 브랜드 (PB/협업)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784848" y="3813048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뷰티·패션 라인. 최고 마진·자산화.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698480" y="341071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전환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26864"/>
            <a:ext cx="11384280" cy="1170432"/>
          </a:xfrm>
          <a:prstGeom prst="roundRect">
            <a:avLst>
              <a:gd name="adj" fmla="val 6250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26864"/>
            <a:ext cx="91440" cy="1170432"/>
          </a:xfrm>
          <a:prstGeom prst="rect">
            <a:avLst/>
          </a:prstGeom>
          <a:solidFill>
            <a:srgbClr val="2A2630"/>
          </a:solidFill>
          <a:ln/>
        </p:spPr>
      </p:sp>
      <p:sp>
        <p:nvSpPr>
          <p:cNvPr id="29" name="Text 27"/>
          <p:cNvSpPr/>
          <p:nvPr/>
        </p:nvSpPr>
        <p:spPr>
          <a:xfrm>
            <a:off x="932688" y="477316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콘텐츠·IP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932688" y="5212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유튜브 광고·화보집·굿즈·팬 멤버십.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698480" y="50474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믹스 목표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안에 '단일 의존'을 깬다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34640" y="2011680"/>
            <a:ext cx="7406640" cy="640080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9" name="Text 7"/>
          <p:cNvSpPr/>
          <p:nvPr/>
        </p:nvSpPr>
        <p:spPr>
          <a:xfrm>
            <a:off x="2834640" y="2157984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241280" y="2011680"/>
            <a:ext cx="822960" cy="640080"/>
          </a:xfrm>
          <a:prstGeom prst="rect">
            <a:avLst/>
          </a:prstGeom>
          <a:solidFill>
            <a:srgbClr val="8C879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906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목표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34640" y="3108960"/>
            <a:ext cx="3703320" cy="640080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3255264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37960" y="3108960"/>
            <a:ext cx="1645920" cy="640080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25526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83880" y="3108960"/>
            <a:ext cx="1645920" cy="640080"/>
          </a:xfrm>
          <a:prstGeom prst="rect">
            <a:avLst/>
          </a:prstGeom>
          <a:solidFill>
            <a:srgbClr val="7B5BD6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325526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829800" y="3108960"/>
            <a:ext cx="1234440" cy="640080"/>
          </a:xfrm>
          <a:prstGeom prst="rect">
            <a:avLst/>
          </a:prstGeom>
          <a:solidFill>
            <a:srgbClr val="2A2630"/>
          </a:solidFill>
          <a:ln/>
        </p:spPr>
      </p:sp>
      <p:sp>
        <p:nvSpPr>
          <p:cNvPr id="19" name="Text 17"/>
          <p:cNvSpPr/>
          <p:nvPr/>
        </p:nvSpPr>
        <p:spPr>
          <a:xfrm>
            <a:off x="9829800" y="3255264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34640" y="4251960"/>
            <a:ext cx="256032" cy="256032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0" y="4206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협찬·앰배서더 45%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040880" y="4251960"/>
            <a:ext cx="256032" cy="256032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23" name="Text 21"/>
          <p:cNvSpPr/>
          <p:nvPr/>
        </p:nvSpPr>
        <p:spPr>
          <a:xfrm>
            <a:off x="7406640" y="4206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오너 브랜드 20%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2834640" y="4709160"/>
            <a:ext cx="256032" cy="256032"/>
          </a:xfrm>
          <a:prstGeom prst="rect">
            <a:avLst/>
          </a:prstGeom>
          <a:solidFill>
            <a:srgbClr val="7B5BD6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46634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커머스·어필리에이트 20%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040880" y="4709160"/>
            <a:ext cx="256032" cy="256032"/>
          </a:xfrm>
          <a:prstGeom prst="rect">
            <a:avLst/>
          </a:prstGeom>
          <a:solidFill>
            <a:srgbClr val="2A2630"/>
          </a:solidFill>
          <a:ln/>
        </p:spPr>
      </p:sp>
      <p:sp>
        <p:nvSpPr>
          <p:cNvPr id="27" name="Text 25"/>
          <p:cNvSpPr/>
          <p:nvPr/>
        </p:nvSpPr>
        <p:spPr>
          <a:xfrm>
            <a:off x="7406640" y="46634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유튜브·IP 15%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5532120"/>
            <a:ext cx="10177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협찬을 줄이는 게 아니라 '협찬 외 수익'을 키워 의존도를 90%→45%로 낮춘다. 이게 D모멘텀이 '사업 파트너'가 되는 지점.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· 협찬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협찬을 받을 것인가? — 받되, 선별한다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7131C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075688"/>
            <a:ext cx="10177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YES. 협찬은 핵심 현금 엔진이다. 단, 무분별 수주는 포지셔닝을 죽인다 — 3개 필터로 거른다.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3566160" cy="2743200"/>
          </a:xfrm>
          <a:prstGeom prst="roundRect">
            <a:avLst>
              <a:gd name="adj" fmla="val 3333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236976"/>
            <a:ext cx="640080" cy="640080"/>
          </a:xfrm>
          <a:prstGeom prst="ellipse">
            <a:avLst/>
          </a:prstGeom>
          <a:solidFill>
            <a:srgbClr val="E84B7C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337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37360" y="34015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FILTER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2688" y="4069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적합성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32688" y="4617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뷰티·패션·럭셔리·라이프스타일만. 저가 양산형 협찬은 거절 — 단가보다 이미지가 비싸다.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89704" y="2926080"/>
            <a:ext cx="3566160" cy="2743200"/>
          </a:xfrm>
          <a:prstGeom prst="roundRect">
            <a:avLst>
              <a:gd name="adj" fmla="val 3333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82312" y="3236976"/>
            <a:ext cx="640080" cy="640080"/>
          </a:xfrm>
          <a:prstGeom prst="ellipse">
            <a:avLst/>
          </a:prstGeom>
          <a:solidFill>
            <a:srgbClr val="E84B7C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3337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586984" y="34015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FILTER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82312" y="4069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독점·계층 관리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82312" y="4617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카테고리는 경쟁 브랜드 동시 진행 X. 단발보다 장기 앰배서더를 우선 협상.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339328" y="2926080"/>
            <a:ext cx="3566160" cy="2743200"/>
          </a:xfrm>
          <a:prstGeom prst="roundRect">
            <a:avLst>
              <a:gd name="adj" fmla="val 3333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31936" y="3236976"/>
            <a:ext cx="640080" cy="640080"/>
          </a:xfrm>
          <a:prstGeom prst="ellipse">
            <a:avLst/>
          </a:prstGeom>
          <a:solidFill>
            <a:srgbClr val="E84B7C"/>
          </a:solidFill>
          <a:ln/>
        </p:spPr>
      </p:sp>
      <p:sp>
        <p:nvSpPr>
          <p:cNvPr id="23" name="Text 21"/>
          <p:cNvSpPr/>
          <p:nvPr/>
        </p:nvSpPr>
        <p:spPr>
          <a:xfrm>
            <a:off x="8631936" y="3337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436608" y="34015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FILTER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31936" y="4069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하한선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631936" y="4617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레이트카드 이하는 거절. 단가 방어가 곧 포지셔닝 방어 — 한 번 깎이면 시장가가 내려간다.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오퍼 · 레이트카드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패키지 — 단발에서 장기로 끌어올린다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10908792" cy="502920"/>
          </a:xfrm>
          <a:prstGeom prst="rect">
            <a:avLst/>
          </a:prstGeom>
          <a:solidFill>
            <a:srgbClr val="17131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패키지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83280" y="20116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75120" y="2011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단가 (협상 전)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72600" y="20116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423160"/>
            <a:ext cx="10908792" cy="841248"/>
          </a:xfrm>
          <a:prstGeom prst="rect">
            <a:avLst/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62432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단발 포스트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2651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IG/TikTok 1건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66560" y="2606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$8K – 30K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72600" y="26517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엔트리 · 신규 브랜드 테스트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264408"/>
            <a:ext cx="1090879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46557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캠페인 패키지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930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멀티채널 3–5건 + 스토리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0" y="344728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$40K – 120K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372600" y="34930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제안 · 권장 진입점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105656"/>
            <a:ext cx="10908792" cy="841248"/>
          </a:xfrm>
          <a:prstGeom prst="rect">
            <a:avLst/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30682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유튜브 통합 PPL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433425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장편 1편 + 클립 파생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766560" y="428853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$15K – 40K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72600" y="433425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서사형 · 전환 강함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946904"/>
            <a:ext cx="10908792" cy="841248"/>
          </a:xfrm>
          <a:prstGeom prst="rect">
            <a:avLst/>
          </a:prstGeom>
          <a:solidFill>
            <a:srgbClr val="FBEFF3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946904"/>
            <a:ext cx="91440" cy="841248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514807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전속 앰배서더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383280" y="517550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분기/연간 독점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766560" y="51297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$150K – 500K+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372600" y="5175504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35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최우선 목표 · 안정 매출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글로벌 메가 인플루언서(10M+ TikTok) 벤치마크 레인지. 오디언스 검증·시즌·독점조건에 따라 ±. 실집행 단가는 미디어킷 확정 후 결정.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241D2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E25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914400" y="2788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/ BD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246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 · 비즈니스 개발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343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딜을 따올 것인가 — 받는 영업과 거는 영업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7B5BD6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B5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 플레이북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딜을 따오는 4단계 시스템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212080" cy="1737360"/>
          </a:xfrm>
          <a:prstGeom prst="roundRect">
            <a:avLst>
              <a:gd name="adj" fmla="val 5263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0312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B5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920240" y="213055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무기 만들기 · 미디어킷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920240" y="2606040"/>
            <a:ext cx="3794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오디언스 데이터(지역·연령·성별) + 케이스 + 레이트카드. 영업 1번 무기. 없으면 단가를 못 받는다.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1874520"/>
            <a:ext cx="5212080" cy="1737360"/>
          </a:xfrm>
          <a:prstGeom prst="roundRect">
            <a:avLst>
              <a:gd name="adj" fmla="val 5263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10312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B5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52360" y="213055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영업 · 인바운드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452360" y="2606040"/>
            <a:ext cx="3794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기제작 홈페이지에 부킹/문의 폼 연결 → 자동 응대·단가표 안내. 들어오는 문의를 돈으로 바꾸는 깔때기.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5212080" cy="1737360"/>
          </a:xfrm>
          <a:prstGeom prst="roundRect">
            <a:avLst>
              <a:gd name="adj" fmla="val 5263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06908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B5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920240" y="409651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거는 영업 · 아웃바운드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920240" y="4572000"/>
            <a:ext cx="3794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브랜드 마케팅팀 직접 컨택 + 글로벌 인플루언서 에이전시 네트워크 등록. 분기 타깃 리스트로 관리.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840480"/>
            <a:ext cx="5212080" cy="1737360"/>
          </a:xfrm>
          <a:prstGeom prst="roundRect">
            <a:avLst>
              <a:gd name="adj" fmla="val 5263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4069080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B5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7452360" y="409651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케이스로 재판매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52360" y="4572000"/>
            <a:ext cx="3794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플래그십 캠페인 1–2개를 잘 해서 '매출 기여·도달' 결과를 만들고, 그 숫자를 다음 영업의 무기로 재사용.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7B5BD6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B5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 타깃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따뜻한 리드부터 — K-뷰티 웻지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17131C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103120"/>
            <a:ext cx="10177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WEDGE 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K-뷰티·K-패션의 글로벌 진출 니즈 = '한국 사는 글로벌 얼굴'이 정확히 그 해답. 여기부터 뚫는다.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971800"/>
            <a:ext cx="91440" cy="1325880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1546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K-뷰티 글로벌 진출 브랜드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32688" y="3593592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올리브영 입점·수출형 브랜드. 글로벌 도달이 절실 → 최우선 1순위 리드.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72200" y="297180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2971800"/>
            <a:ext cx="91440" cy="1325880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15" name="Text 13"/>
          <p:cNvSpPr/>
          <p:nvPr/>
        </p:nvSpPr>
        <p:spPr>
          <a:xfrm>
            <a:off x="6464808" y="31546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뷰티·코스메틱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64808" y="3593592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본사/아시아 마케팅팀 컨택. 럭셔리·매스 모두 인형 비주얼과 적합.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48056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480560"/>
            <a:ext cx="91440" cy="1325880"/>
          </a:xfrm>
          <a:prstGeom prst="rect">
            <a:avLst/>
          </a:prstGeom>
          <a:solidFill>
            <a:srgbClr val="7B5BD6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46634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패션·럭셔리·액세서리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32688" y="5102352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컨템포러리 브랜드, 주얼리/아이웨어. 화보형 캠페인 최적.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72200" y="448056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4480560"/>
            <a:ext cx="91440" cy="1325880"/>
          </a:xfrm>
          <a:prstGeom prst="rect">
            <a:avLst/>
          </a:prstGeom>
          <a:solidFill>
            <a:srgbClr val="2A2630"/>
          </a:solidFill>
          <a:ln/>
        </p:spPr>
      </p:sp>
      <p:sp>
        <p:nvSpPr>
          <p:cNvPr id="23" name="Text 21"/>
          <p:cNvSpPr/>
          <p:nvPr/>
        </p:nvSpPr>
        <p:spPr>
          <a:xfrm>
            <a:off x="6464808" y="46634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거주 외국인 타깃 서비스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464808" y="5102352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통신·금융·여행. '한국 사는 글로벌 셀럽' 서사와 직결.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× DASHA TARAN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34472" y="64556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3268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실행 로드맵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20240"/>
            <a:ext cx="3566160" cy="777240"/>
          </a:xfrm>
          <a:prstGeom prst="roundRect">
            <a:avLst>
              <a:gd name="adj" fmla="val 11765"/>
            </a:avLst>
          </a:prstGeom>
          <a:solidFill>
            <a:srgbClr val="17131C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331720"/>
            <a:ext cx="3566160" cy="365760"/>
          </a:xfrm>
          <a:prstGeom prst="rect">
            <a:avLst/>
          </a:prstGeom>
          <a:solidFill>
            <a:srgbClr val="17131C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0848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0–30일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셋업 · 무기 장착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349300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채널 톤&amp;매너 리뉴얼(재탄생)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059936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미디어킷 + 레이트카드 제작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홈페이지 부킹 폼 연결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89704" y="192024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89704" y="1920240"/>
            <a:ext cx="3566160" cy="777240"/>
          </a:xfrm>
          <a:prstGeom prst="roundRect">
            <a:avLst>
              <a:gd name="adj" fmla="val 11765"/>
            </a:avLst>
          </a:prstGeom>
          <a:solidFill>
            <a:srgbClr val="17131C"/>
          </a:solidFill>
          <a:ln/>
        </p:spPr>
      </p:sp>
      <p:sp>
        <p:nvSpPr>
          <p:cNvPr id="17" name="Shape 15"/>
          <p:cNvSpPr/>
          <p:nvPr/>
        </p:nvSpPr>
        <p:spPr>
          <a:xfrm>
            <a:off x="4489704" y="2331720"/>
            <a:ext cx="3566160" cy="365760"/>
          </a:xfrm>
          <a:prstGeom prst="rect">
            <a:avLst/>
          </a:prstGeom>
          <a:solidFill>
            <a:srgbClr val="17131C"/>
          </a:solidFill>
          <a:ln/>
        </p:spPr>
      </p:sp>
      <p:sp>
        <p:nvSpPr>
          <p:cNvPr id="18" name="Text 16"/>
          <p:cNvSpPr/>
          <p:nvPr/>
        </p:nvSpPr>
        <p:spPr>
          <a:xfrm>
            <a:off x="4764024" y="20848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31–60일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64024" y="2880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가동 · 영업 개시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764024" y="349300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TikTok 고빈도 + 정착기 시리즈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64024" y="4059936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K-뷰티 타깃 아웃바운드 착수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64024" y="4626864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플래그십 캠페인 1건 수주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339328" y="192024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5F1F4"/>
          </a:solidFill>
          <a:ln w="12700">
            <a:solidFill>
              <a:srgbClr val="E7E0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39328" y="1920240"/>
            <a:ext cx="3566160" cy="777240"/>
          </a:xfrm>
          <a:prstGeom prst="roundRect">
            <a:avLst>
              <a:gd name="adj" fmla="val 11765"/>
            </a:avLst>
          </a:prstGeom>
          <a:solidFill>
            <a:srgbClr val="17131C"/>
          </a:solidFill>
          <a:ln/>
        </p:spPr>
      </p:sp>
      <p:sp>
        <p:nvSpPr>
          <p:cNvPr id="25" name="Shape 23"/>
          <p:cNvSpPr/>
          <p:nvPr/>
        </p:nvSpPr>
        <p:spPr>
          <a:xfrm>
            <a:off x="8339328" y="2331720"/>
            <a:ext cx="3566160" cy="365760"/>
          </a:xfrm>
          <a:prstGeom prst="rect">
            <a:avLst/>
          </a:prstGeom>
          <a:solidFill>
            <a:srgbClr val="17131C"/>
          </a:solidFill>
          <a:ln/>
        </p:spPr>
      </p:sp>
      <p:sp>
        <p:nvSpPr>
          <p:cNvPr id="26" name="Text 24"/>
          <p:cNvSpPr/>
          <p:nvPr/>
        </p:nvSpPr>
        <p:spPr>
          <a:xfrm>
            <a:off x="8613648" y="20848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61–90일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613648" y="2880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6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다각화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613648" y="349300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오너 브랜드/PB 컨셉 확정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13648" y="4059936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커머스(쇼핑태그) 테스트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13648" y="4626864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0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캠페인 결과 → 케이스로 재판매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C87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 종료 시 지표 리뷰로 다음 단계 가설을 갱신한다.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84B7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58368"/>
            <a:ext cx="146304" cy="146304"/>
          </a:xfrm>
          <a:prstGeom prst="rect">
            <a:avLst/>
          </a:prstGeom>
          <a:solidFill>
            <a:srgbClr val="C8A24B"/>
          </a:solidFill>
          <a:ln/>
        </p:spPr>
      </p:sp>
      <p:sp>
        <p:nvSpPr>
          <p:cNvPr id="4" name="Text 2"/>
          <p:cNvSpPr/>
          <p:nvPr/>
        </p:nvSpPr>
        <p:spPr>
          <a:xfrm>
            <a:off x="896112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A2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미팅에서 결정할 것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합의해야 할 5가지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241D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21992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874520" y="2148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언어·시장 1순위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258775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영어(글로벌) 메인 + 한국 서브 — 동의하는가?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96596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241D2B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221992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406640" y="2148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포지셔닝 한 문장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06640" y="258775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'재탄생 서사' vs 기존 '비주얼 퀸' 유지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29184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241D2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47872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874520" y="3474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협찬 정책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74520" y="391363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협찬 + 레이트카드 하한선 채택 여부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29184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241D2B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3547872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7406640" y="3474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오너 브랜드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06640" y="391363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협찬만 vs PB·협업까지 수익 다각화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617720"/>
            <a:ext cx="10424160" cy="1143000"/>
          </a:xfrm>
          <a:prstGeom prst="roundRect">
            <a:avLst>
              <a:gd name="adj" fmla="val 6400"/>
            </a:avLst>
          </a:prstGeom>
          <a:solidFill>
            <a:srgbClr val="241D2B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873752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4B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1874520" y="4800600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 주체·체계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874520" y="52395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8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미디어킷·아웃바운드 누가, 언제부터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4556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A64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MOMENTUM  ·  다샤 타란 마케팅 전략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2026-06-05T01:55:31Z</dcterms:created>
  <dcterms:modified xsi:type="dcterms:W3CDTF">2026-06-05T01:55:31Z</dcterms:modified>
</cp:coreProperties>
</file>